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29184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EXECUTIVE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PatientTriage.ai</a:t>
            </a:r>
          </a:p>
          <a:p>
            <a:pPr>
              <a:spcBef>
                <a:spcPts val="800"/>
              </a:spcBef>
              <a:defRPr sz="2200" b="1">
                <a:solidFill>
                  <a:srgbClr val="E2E8F0"/>
                </a:solidFill>
                <a:latin typeface="Segoe UI"/>
              </a:defRPr>
            </a:pPr>
            <a:r>
              <a:t>Continuous Emergency Department Safety Monitoring &amp; Hybrid Decision Support</a:t>
            </a:r>
          </a:p>
          <a:p>
            <a:pPr>
              <a:spcBef>
                <a:spcPts val="1000"/>
              </a:spcBef>
              <a:defRPr sz="1700">
                <a:solidFill>
                  <a:srgbClr val="94A3B8"/>
                </a:solidFill>
                <a:latin typeface="Segoe UI"/>
              </a:defRPr>
            </a:pPr>
            <a:r>
              <a:t>See risk before it becomes a crisis — shifting triage from an isolated intake snapshot into active waiting-room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918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4023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📡 Continuous Radar™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Real-time longitudinal vital tracking &amp; wait-time threshold surveillance.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931920"/>
            <a:ext cx="32918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4023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🛡️ Hybrid Safety Fusion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Deterministic safety floors enforce unbreachable red flags over advisory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931920"/>
            <a:ext cx="32918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1" y="4023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👩‍⚕️ 100% Clinician Authority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Human-in-the-loop governance with mandatory audit reason logging.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0362895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623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PROTOTYPE REGULATORY NOTICE: Clinical decision-support prototype evaluated on synthetic demonstration benchmarks. Recommendations are strictly advisory. Licensed clinicians retain 100% decision authority. Formal CDSCO / CE / FDA SaMD review required prior to clinical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Executive Summary &amp; Core Strategic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Emergency Department Paradox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Static Intake Snapshot: Conventional triage assigns an acuity score once at minute zero (t=0).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Dynamic Physiology: Patients wait 30 minutes to 4+ hours in crowded waiting rooms where conditions evolve unnoticed.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The Safety Gap: Initially moderate cases (ESI-3) can silently deteriorate into life-threatening states before bedside exam.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Segoe UI"/>
              </a:defRPr>
            </a:pPr>
            <a:r>
              <a:t>• The Solution: PatientTriage.ai bridges this gap with continuous physiological surveillance and hybrid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25135" cy="1097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059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📡 1. Continuous Surveillance</a:t>
            </a:r>
          </a:p>
          <a:p>
            <a:pPr>
              <a:spcBef>
                <a:spcPts val="3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Waiting-Room Radar™ tracks longitudinal vital deltas and wait times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70048"/>
            <a:ext cx="5425135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61488"/>
            <a:ext cx="5059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🛡️ 2. Hybrid Safety Fusion</a:t>
            </a:r>
          </a:p>
          <a:p>
            <a:pPr>
              <a:spcBef>
                <a:spcPts val="3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Deterministic rules establish non-downgradable CRITICAL safety floors over ML predictions.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877056"/>
            <a:ext cx="5425135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968496"/>
            <a:ext cx="5059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🔍 3. Point-of-Care Explainability</a:t>
            </a:r>
          </a:p>
          <a:p>
            <a:pPr>
              <a:spcBef>
                <a:spcPts val="3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Live SHAP feature contributions display exact mathematical drivers behind advisory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084064"/>
            <a:ext cx="5425135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5175504"/>
            <a:ext cx="50593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👩‍⚕️ 4. 100% Clinician Authority</a:t>
            </a:r>
          </a:p>
          <a:p>
            <a:pPr>
              <a:spcBef>
                <a:spcPts val="3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Human-in-the-loop control with mandatory override reason tracking and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02.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Problem Framing: The Waiting-Room Safety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309981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🚨 Silent Decompensation</a:t>
            </a:r>
          </a:p>
          <a:p>
            <a:pPr>
              <a:spcBef>
                <a:spcPts val="6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Occult sepsis, evolving stroke, and atypical coronary syndromes progress without overt distress during queue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72768"/>
            <a:ext cx="309981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🧠 Cognitive Saturation</a:t>
            </a:r>
          </a:p>
          <a:p>
            <a:pPr>
              <a:spcBef>
                <a:spcPts val="6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Triage staff managing 40+ waiting patients cannot manually track time limits or recalculate vital trendlines.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72768"/>
            <a:ext cx="309981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❓ Unsafe Normal Imputation</a:t>
            </a:r>
          </a:p>
          <a:p>
            <a:pPr>
              <a:spcBef>
                <a:spcPts val="6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Rushed staff frequently assume omitted vitals are normal, violating the clinical rule that UNKNOWN ≠ NORMAL.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10728655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1"/>
            <a:ext cx="1027145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The Core Clinical Reality: Initial Risk ≠ Permanent Risk</a:t>
            </a:r>
          </a:p>
          <a:p>
            <a:pPr>
              <a:spcBef>
                <a:spcPts val="600"/>
              </a:spcBef>
              <a:defRPr sz="1700" b="1">
                <a:solidFill>
                  <a:srgbClr val="E11D48"/>
                </a:solidFill>
                <a:latin typeface="Segoe UI"/>
              </a:defRPr>
            </a:pPr>
            <a:r>
              <a:t>Patient Risk(t) = f ( Vitals(t), Symptoms(t), Elapsed Wait Time (t - t0), Δ Physiology(t) )</a:t>
            </a:r>
          </a:p>
          <a:p>
            <a:pPr>
              <a:spcBef>
                <a:spcPts val="600"/>
              </a:spcBef>
              <a:defRPr sz="1550">
                <a:solidFill>
                  <a:srgbClr val="0F172A"/>
                </a:solidFill>
                <a:latin typeface="Segoe UI"/>
              </a:defRPr>
            </a:pPr>
            <a:r>
              <a:t>• Conventional Triage assumes Δ Physiology = 0, creating a dangerous operational blind spot.</a:t>
            </a:r>
          </a:p>
          <a:p>
            <a:pPr>
              <a:spcBef>
                <a:spcPts val="400"/>
              </a:spcBef>
              <a:defRPr sz="1550">
                <a:solidFill>
                  <a:srgbClr val="0F172A"/>
                </a:solidFill>
                <a:latin typeface="Segoe UI"/>
              </a:defRPr>
            </a:pPr>
            <a:r>
              <a:t>• PatientTriage.ai continuously recalculates risk trajectory, turning passive waiting rooms into actively monitored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03.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Solution Overview: 5-Component Clinical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57400" cy="4709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83794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1. Structured Intake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Rapid digital entry of vitals, chief complaints with negation protection, medical history, and clinical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2057400" cy="4709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600200"/>
            <a:ext cx="183794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2. Data Quality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UNKNOWN ≠ NORMAL governance: unrecorded vitals reduce completeness and elevate model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463040"/>
            <a:ext cx="2057400" cy="4709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600200"/>
            <a:ext cx="183794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3. Safety Rules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Deterministic red flags (SpO₂ &lt; 88%, SBP &lt; 80, Stridor) establish unbreachable CRITICAL safety floors.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463040"/>
            <a:ext cx="2057400" cy="4709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600200"/>
            <a:ext cx="183794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4. Advisory ML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In-browser XGBoost evaluates 71 domain features (shock index, pulse pressure, interactions) + SHAP.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63040"/>
            <a:ext cx="2057400" cy="4709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1600200"/>
            <a:ext cx="183794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5. Radar™ Surveillance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Continuous monitoring detects vital deltas and wait-cap limits under 100% clinician authority.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04. DECISION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Why the Hybrid Model: Rules + ML + Clinician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Deterministic Rules Only</a:t>
            </a:r>
          </a:p>
          <a:p>
            <a:pPr>
              <a:spcBef>
                <a:spcPts val="2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Safety Floor, Low Nuance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100% reliable red-flag enforcement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Verifiable, deterministic safety floors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Inflexible on atypical presentations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44.71% synthetic accuracy (misses nuance)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Cannot recognize multi-variable interactions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Pure Machine Learning</a:t>
            </a:r>
          </a:p>
          <a:p>
            <a:pPr>
              <a:spcBef>
                <a:spcPts val="2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High Sensitivity, Fragile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Recognizes complex clinical patterns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98.87% sensitivity on acute cases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Vulnerable to missing/adversarial data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Can hallucinate lower acuity on red flags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✖ Unsafe as autonomous decision authority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47091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PatientTriage.ai Hybrid</a:t>
            </a:r>
          </a:p>
          <a:p>
            <a:pPr>
              <a:spcBef>
                <a:spcPts val="200"/>
              </a:spcBef>
              <a:defRPr sz="1450">
                <a:solidFill>
                  <a:srgbClr val="475569"/>
                </a:solidFill>
                <a:latin typeface="Segoe UI"/>
              </a:defRPr>
            </a:pPr>
            <a:r>
              <a:t>The Optimal Clinical Balance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Deterministic rules establish floor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XGBoost advises on subtle interactions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ML can UPGRADE for safety, never downgrade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UNKNOWN ≠ NORMAL uncertainty handling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✔ 100% Licensed Clinician final authority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05. STAKEHOLDER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Target Users &amp; 4-Stakeholder Value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87975" cy="2240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495879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👩‍⚕️ Triage &amp; Staff Nurses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Operational Relief at Triage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Eliminates manual wait-time tracking across 40+ waiting patients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Live data completeness gauge prevents unrecorded vital omissions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Objective deterioration alerts validate nursing intuition during surges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87975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600200"/>
            <a:ext cx="495879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👨‍⚕️ Emergency Physicians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Instant Longitudinal Context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Pre-arrival risk decomposition and local SHAP explainability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Evidence Diff displays exact vital trajectory since intake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1-click override modal with structured clinical reason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87975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23360"/>
            <a:ext cx="495879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🏥 ED Operations &amp; Directors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Department-Wide Visibility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Real-time queue acuity distribution and surge pressure monitoring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100% audit log coverage of priority overrides and safety floors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Configurable facility profiles adapt wait caps to ED staffing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287975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4023360"/>
            <a:ext cx="495879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💼 Hospital C-Suite &amp; Risk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Liability &amp; Capacity Protection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Mitigates waiting-room sentinel events and malpractice exposure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Reduces Left Without Being Seen (LWBS) rate via active queue care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Improves ED bed turnover and reduces avoidable ICU escalations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06. CLINICAL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Product Experience &amp; Clinical Operations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102714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Step 1: Patient Intake</a:t>
            </a:r>
          </a:p>
          <a:p>
            <a:pPr>
              <a:spcBef>
                <a:spcPts val="2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Structured capture of vitals, complaints, history, and cues. UNKNOWN ≠ NORMAL standard penalizes omitted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102714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Step 2: Dual Hybrid Scoring</a:t>
            </a:r>
          </a:p>
          <a:p>
            <a:pPr>
              <a:spcBef>
                <a:spcPts val="2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Deterministic engine checks hard red flags. XGBoost evaluates 71 features. Safety floor gate blocks downgrades.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56432"/>
            <a:ext cx="102714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Step 3: Command Center</a:t>
            </a:r>
          </a:p>
          <a:p>
            <a:pPr>
              <a:spcBef>
                <a:spcPts val="2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Live queue displays risk scores, model probability, uncertainty levels, and wait-time timers with fast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728655" cy="8412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02714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  <a:latin typeface="Segoe UI"/>
              </a:defRPr>
            </a:pPr>
            <a:r>
              <a:t>Step 4: Waiting-Room Radar™</a:t>
            </a:r>
          </a:p>
          <a:p>
            <a:pPr>
              <a:spcBef>
                <a:spcPts val="2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Continuous surveillance tracks longitudinal vital deltas and triggers REASSESS / ESCALATE alerts on deterioration.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412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76672"/>
            <a:ext cx="1027145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Segoe UI"/>
              </a:defRPr>
            </a:pPr>
            <a:r>
              <a:t>Step 5: Review &amp; Override</a:t>
            </a:r>
          </a:p>
          <a:p>
            <a:pPr>
              <a:spcBef>
                <a:spcPts val="2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Physician inspects SHAP feature attributions, reviews Evidence Diff, and confirms or overrides priority with logged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07.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Business Value Pillars &amp; Pilot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90495" cy="21488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11D48"/>
                </a:solidFill>
                <a:latin typeface="Segoe UI"/>
              </a:defRPr>
            </a:pPr>
            <a:r>
              <a:t>18–25%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Time-to-Intervention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Accelerates critical bedside escalation for occult sepsis and silent hypoxemia.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90495" cy="2148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30–40%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Liability Risk Reduction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Eliminates unmonitored waiting-room sentinel events with 100% audit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90495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12–15%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ED Bed Turnover Uplift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Reduces queue bottlenecks and Left Without Being Seen (LWBS) rates.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90495" cy="2148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20–30%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Cognitive Load Reduction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Automates longitudinal trend calculation and wait-cap surveillance.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28655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1027145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Pilot Value Hypotheses (Targets for Clinical Pilot Studies)</a:t>
            </a:r>
          </a:p>
          <a:p>
            <a:pPr>
              <a:spcBef>
                <a:spcPts val="5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• Deterioration Detection Rate: Radar surveillance catches 100% of vital drops (SpO₂ drop ≥3%, HR spike ≥15) before queue threshold expiry.</a:t>
            </a:r>
          </a:p>
          <a:p>
            <a:pPr>
              <a:spcBef>
                <a:spcPts val="5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• LWBS Rate Reduction: Active waiting-room engagement and transparent monitoring status reduce LWBS by 15–20% in high-volume urban EDs.</a:t>
            </a:r>
          </a:p>
          <a:p>
            <a:pPr>
              <a:spcBef>
                <a:spcPts val="5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• Complete Audit Defense: 100% structured override capture protects clinical staff and hospital legal counsel during retrospective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08. 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Competitive Differentiation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How PatientTriage.ai Compares to Existing Clinical Systems</a:t>
            </a:r>
          </a:p>
          <a:p>
            <a:pPr>
              <a:spcBef>
                <a:spcPts val="800"/>
              </a:spcBef>
              <a:defRPr sz="1300" b="1">
                <a:solidFill>
                  <a:srgbClr val="E11D48"/>
                </a:solidFill>
                <a:latin typeface="Consolas"/>
              </a:defRPr>
            </a:pPr>
            <a:r>
              <a:t>DIMENSION              | LEGACY ESI / MTS     | EHR TRIAGE MODULES   | BLACK-BOX AI         | PATIENTTRIAGE.AI</a:t>
            </a:r>
          </a:p>
          <a:p>
            <a:pPr>
              <a:spcBef>
                <a:spcPts val="500"/>
              </a:spcBef>
              <a:defRPr sz="1200" b="0">
                <a:solidFill>
                  <a:srgbClr val="059669"/>
                </a:solidFill>
                <a:latin typeface="Consolas"/>
              </a:defRPr>
            </a:pPr>
            <a:r>
              <a:t>Triage Model           | Static Snapshot (t=0) | Static Charting (t=0) | Static Model Score   | Continuous Radar™ Surveillance</a:t>
            </a:r>
          </a:p>
          <a:p>
            <a:pPr>
              <a:spcBef>
                <a:spcPts val="500"/>
              </a:spcBef>
              <a:defRPr sz="1200" b="0">
                <a:solidFill>
                  <a:srgbClr val="059669"/>
                </a:solidFill>
                <a:latin typeface="Consolas"/>
              </a:defRPr>
            </a:pPr>
            <a:r>
              <a:t>Deterioration Alerts   | Manual Periodic Check | Static Threshold Alert | Model Score Only     | Longitudinal Vital Deltas &amp; Diff</a:t>
            </a:r>
          </a:p>
          <a:p>
            <a:pPr>
              <a:spcBef>
                <a:spcPts val="500"/>
              </a:spcBef>
              <a:defRPr sz="1200" b="1">
                <a:solidFill>
                  <a:srgbClr val="059669"/>
                </a:solidFill>
                <a:latin typeface="Consolas"/>
              </a:defRPr>
            </a:pPr>
            <a:r>
              <a:t>Safety Floor           | Subjective Human Floor | Basic Threshold Alert | None (ML Can Downgrade) | Deterministic Safety Floor (Invariant)</a:t>
            </a:r>
          </a:p>
          <a:p>
            <a:pPr>
              <a:spcBef>
                <a:spcPts val="500"/>
              </a:spcBef>
              <a:defRPr sz="1200" b="0">
                <a:solidFill>
                  <a:srgbClr val="059669"/>
                </a:solidFill>
                <a:latin typeface="Consolas"/>
              </a:defRPr>
            </a:pPr>
            <a:r>
              <a:t>Missing Data Rule      | Assumes Normal (Unsafe) | Omits Feature        | Mean Imputation      | UNKNOWN ≠ NORMAL Uncertainty Gate</a:t>
            </a:r>
          </a:p>
          <a:p>
            <a:pPr>
              <a:spcBef>
                <a:spcPts val="500"/>
              </a:spcBef>
              <a:defRPr sz="1200" b="0">
                <a:solidFill>
                  <a:srgbClr val="059669"/>
                </a:solidFill>
                <a:latin typeface="Consolas"/>
              </a:defRPr>
            </a:pPr>
            <a:r>
              <a:t>Explainability         | None                 | None                 | Black-Box Probabilities | Live Point-of-Care SHAP Decomposition</a:t>
            </a:r>
          </a:p>
          <a:p>
            <a:pPr>
              <a:spcBef>
                <a:spcPts val="500"/>
              </a:spcBef>
              <a:defRPr sz="1200" b="1">
                <a:solidFill>
                  <a:srgbClr val="059669"/>
                </a:solidFill>
                <a:latin typeface="Consolas"/>
              </a:defRPr>
            </a:pPr>
            <a:r>
              <a:t>Human Control          | Nurse Decides Alone  | Nurse Decides Alone  | Unclear Authority    | 100% Clinician Authority + Reason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09. CLINICAL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Responsible AI &amp; Clinical Governance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AI Assists.  Safety Rules Protect.  Clinicians Decide.</a:t>
            </a:r>
          </a:p>
          <a:p>
            <a:pPr algn="ctr">
              <a:spcBef>
                <a:spcPts val="2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Clinical decision support with clear, verifiable boundaries — no autonomous prescriptions or unsupervised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287975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70048"/>
            <a:ext cx="4958791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👩‍⚕️ 100% Clinician Authority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Human-in-the-loop: Clinician retains absolute final decision authority. 1-click overrides with mandatory reason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60320"/>
            <a:ext cx="5287975" cy="1645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670048"/>
            <a:ext cx="4958791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🛡️ UNKNOWN ≠ NORMAL Standard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Omitted vitals or zero history increase model uncertainty penalties rather than assuming benign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87975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53128"/>
            <a:ext cx="4958791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📝 Immutable Audit Trail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Every priority assignment, uncertainty escalation, model recommendation, and clinician override is permanently logged.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343400"/>
            <a:ext cx="5287975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453128"/>
            <a:ext cx="4958791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🔒 Zero PHI Cloud Egress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In-browser edge inference executes tree ensembles directly in TypeScript on local client device without cloud streaming.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10. 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Phased Deployment Strategy &amp; Validation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709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1: Retrospective Shadow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Months 1–3  •  Offline Analysis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Ingest historical de-identified ED cohorts (10,000+ records)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Evaluate concordancy against attending physician notes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Confirm zero false-negative red-flag downgrades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Validation Gate: &gt;95% Critical sensitivity on holdouts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709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2: Live Silent Observer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Months 4–6  •  Parallel Pipeline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Silent execution alongside triage nurse without UI display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Track Waiting-Room Radar vital delta capture in real time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Monitor alert burden and optimize threshold dampeners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Validation Gate: Alert fatigue rate &lt;5% per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4709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09981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3: Active Advisory Pilot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Months 7–12  •  Live CDS Pilot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Advisory deployment in a single pilot emergency department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Clinicians retain 100% authority with mandatory override logging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Measure time-to-reassess reduction and override rate (10–15%)</a:t>
            </a:r>
          </a:p>
          <a:p>
            <a:pPr>
              <a:spcBef>
                <a:spcPts val="8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Validation Gate: Institutional Review Board (IRB) signoff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11. 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Product Roadmap: From Prototype to Enterprise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E11D48"/>
                </a:solidFill>
                <a:latin typeface="Segoe UI"/>
              </a:defRPr>
            </a:pPr>
            <a:r>
              <a:t>Phase 1: Prototype Foundation (COMPLETED)</a:t>
            </a:r>
          </a:p>
          <a:p>
            <a:pPr>
              <a:spcBef>
                <a:spcPts val="3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Hybrid decision engine, 71 domain features, in-browser XGBoost inference, UNKNOWN ≠ NORMAL data completeness scoring, deterministic safety floors.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E11D48"/>
                </a:solidFill>
                <a:latin typeface="Segoe UI"/>
              </a:defRPr>
            </a:pPr>
            <a:r>
              <a:t>Phase 2: Continuous Radar &amp; Alerting (COMPLETED)</a:t>
            </a:r>
          </a:p>
          <a:p>
            <a:pPr>
              <a:spcBef>
                <a:spcPts val="3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Longitudinal vital tracking, Evidence Diff component, Why Now? alert cards, surge mode simulation, 11 preconfigured demo clinical scenarios.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Phase 3: EHR Interoperability (Q1–Q2)</a:t>
            </a:r>
          </a:p>
          <a:p>
            <a:pPr>
              <a:spcBef>
                <a:spcPts val="3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Bi-directional HL7 FHIR v4.0 integration, Epic/Cerner SMART-on-FHIR launch, automated vitals polling from waiting-room kiosks and bedside monitors.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Segoe UI"/>
              </a:defRPr>
            </a:pPr>
            <a:r>
              <a:t>Phase 4: Multi-Center Enterprise Scaling (Q3–Q4)</a:t>
            </a:r>
          </a:p>
          <a:p>
            <a:pPr>
              <a:spcBef>
                <a:spcPts val="300"/>
              </a:spcBef>
              <a:defRPr sz="1500">
                <a:solidFill>
                  <a:srgbClr val="0F172A"/>
                </a:solidFill>
                <a:latin typeface="Segoe UI"/>
              </a:defRPr>
            </a:pPr>
            <a:r>
              <a:t>Multi-hospital cluster management, federated model calibration without centralized PHI aggregation, CDSCO/FDA SaMD submission dossier.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12. RISK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Comprehensive Risk &amp; Mitigation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87975" cy="2240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495879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1. Automation Bias (Over-Reliance)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Risk: Clinicians might passively accept AI suggestions without independent clinical assessment.</a:t>
            </a:r>
          </a:p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Mitigation: Mandatory reason capture on overrides; UI prominently states 'Advisory Support'; deterministic red-flag overrides enforce human signoff.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87975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572768"/>
            <a:ext cx="495879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2. Alert Fatigue from Radar Notifications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Risk: Excessive reassessment alerts during crowded shifts could cause staff to ignore warnings.</a:t>
            </a:r>
          </a:p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Mitigation: Configurable threshold dampeners; delta magnitude thresholds (SpO₂ drop ≥3%, HR ≥15); priority sorting in Waiting-Room Radar.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87975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95928"/>
            <a:ext cx="495879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3. Missing Data &amp; Unrepresented Patients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Risk: Patients with zero medical history or unmeasured vitals could receive improper triage.</a:t>
            </a:r>
          </a:p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Mitigation: UNKNOWN ≠ NORMAL standard: unmeasured fields elevate uncertainty and block acuity downgrades.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287975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995928"/>
            <a:ext cx="495879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4. Network Downtime &amp; EHR Disruption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Risk: Hospital network failures could interrupt cloud-dependent decision tools.</a:t>
            </a:r>
          </a:p>
          <a:p>
            <a:pPr>
              <a:spcBef>
                <a:spcPts val="4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Mitigation: In-browser edge inference engine runs 100% locally with zero external API dependencies during patient care.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13. COMMERCIAL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Commercialization Model &amp; Illustrative ROI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Tier 1: Community Hospital ED</a:t>
            </a:r>
          </a:p>
          <a:p>
            <a:pPr>
              <a:spcBef>
                <a:spcPts val="100"/>
              </a:spcBef>
              <a:defRPr sz="1600" b="1">
                <a:solidFill>
                  <a:srgbClr val="E11D48"/>
                </a:solidFill>
                <a:latin typeface="Segoe UI"/>
              </a:defRPr>
            </a:pPr>
            <a:r>
              <a:t>$2,500 – $4,000 / month</a:t>
            </a:r>
          </a:p>
          <a:p>
            <a:pPr>
              <a:spcBef>
                <a:spcPts val="2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Up to 30,000 annual visits. Core decision support, Waiting-Room Radar, standard EHR connector, audit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44952"/>
            <a:ext cx="512064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Tier 2: Regional Trauma Center</a:t>
            </a:r>
          </a:p>
          <a:p>
            <a:pPr>
              <a:spcBef>
                <a:spcPts val="100"/>
              </a:spcBef>
              <a:defRPr sz="1600" b="1">
                <a:solidFill>
                  <a:srgbClr val="E11D48"/>
                </a:solidFill>
                <a:latin typeface="Segoe UI"/>
              </a:defRPr>
            </a:pPr>
            <a:r>
              <a:t>$5,000 – $8,500 / month</a:t>
            </a:r>
          </a:p>
          <a:p>
            <a:pPr>
              <a:spcBef>
                <a:spcPts val="2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30,000–80,000 annual visits. Bi-directional FHIR integration, custom facility profiles, surge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26864"/>
            <a:ext cx="512064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18304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Tier 3: Academic Health Network</a:t>
            </a:r>
          </a:p>
          <a:p>
            <a:pPr>
              <a:spcBef>
                <a:spcPts val="100"/>
              </a:spcBef>
              <a:defRPr sz="1600" b="1">
                <a:solidFill>
                  <a:srgbClr val="E11D48"/>
                </a:solidFill>
                <a:latin typeface="Segoe UI"/>
              </a:defRPr>
            </a:pPr>
            <a:r>
              <a:t>Enterprise Contract</a:t>
            </a:r>
          </a:p>
          <a:p>
            <a:pPr>
              <a:spcBef>
                <a:spcPts val="2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Multi-hospital network, enterprise analytics, federated model calibration, dedicated CDS compliance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5425135" cy="4709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496793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Illustrative Hospital ROI Framework (50,000 Annual Visits)</a:t>
            </a:r>
          </a:p>
          <a:p>
            <a:pPr>
              <a:spcBef>
                <a:spcPts val="700"/>
              </a:spcBef>
              <a:defRPr sz="1450" b="0">
                <a:solidFill>
                  <a:srgbClr val="0F172A"/>
                </a:solidFill>
                <a:latin typeface="Segoe UI"/>
              </a:defRPr>
            </a:pPr>
            <a:r>
              <a:t>• LWBS Revenue Recovery: Reducing LWBS rate by 1.2% recovers ~600 patients/year ($180,000+ net revenue).</a:t>
            </a:r>
          </a:p>
          <a:p>
            <a:pPr>
              <a:spcBef>
                <a:spcPts val="700"/>
              </a:spcBef>
              <a:defRPr sz="1450" b="0">
                <a:solidFill>
                  <a:srgbClr val="0F172A"/>
                </a:solidFill>
                <a:latin typeface="Segoe UI"/>
              </a:defRPr>
            </a:pPr>
            <a:r>
              <a:t>• Avoidable ICU Transfer Savings: Early detection of occult sepsis in waiting room prevents 12–18 unplanned ICU escalations ($240,000+ cost avoidance).</a:t>
            </a:r>
          </a:p>
          <a:p>
            <a:pPr>
              <a:spcBef>
                <a:spcPts val="700"/>
              </a:spcBef>
              <a:defRPr sz="1450" b="0">
                <a:solidFill>
                  <a:srgbClr val="0F172A"/>
                </a:solidFill>
                <a:latin typeface="Segoe UI"/>
              </a:defRPr>
            </a:pPr>
            <a:r>
              <a:t>• Malpractice Risk Reserve: Demonstrated audit trail compliance and zero waiting-room sentinel events lower liability reserves ($75,000/year).</a:t>
            </a:r>
          </a:p>
          <a:p>
            <a:pPr>
              <a:spcBef>
                <a:spcPts val="700"/>
              </a:spcBef>
              <a:defRPr sz="1450" b="0">
                <a:solidFill>
                  <a:srgbClr val="0F172A"/>
                </a:solidFill>
                <a:latin typeface="Segoe UI"/>
              </a:defRPr>
            </a:pPr>
            <a:r>
              <a:t>• Nurse Retention &amp; Overtime: Automating surveillance saves 350+ nursing overtime hours/year ($35,000).</a:t>
            </a:r>
          </a:p>
          <a:p>
            <a:pPr>
              <a:spcBef>
                <a:spcPts val="700"/>
              </a:spcBef>
              <a:defRPr sz="1450" b="1">
                <a:solidFill>
                  <a:srgbClr val="E11D48"/>
                </a:solidFill>
                <a:latin typeface="Segoe UI"/>
              </a:defRPr>
            </a:pPr>
            <a:r>
              <a:t>TOTAL ESTIMATED VALUE: $530,000 / year (vs ~$72,000 annual software fee  ➜  7.3× First-Year ROI)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14. PROTOTYPE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Prototype Evidence: Synthetic Holdout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PatientTriage.ai  •  Business Proposal &amp; Strategy Deck  •  Prototype Simulation Notice  •  Slide 15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9049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Segoe UI"/>
              </a:defRPr>
            </a:pPr>
            <a:r>
              <a:t>90.79%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Overall Accuracy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5-class acuity classification on 2,250 synthetic holdout test records (vs 44.71% rule baseline).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9049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Segoe UI"/>
              </a:defRPr>
            </a:pPr>
            <a:r>
              <a:t>88.20%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Macro F1-Score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Balanced precision &amp; recall across all five triage acuity tiers without class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90495" cy="21488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11D48"/>
                </a:solidFill>
                <a:latin typeface="Segoe UI"/>
              </a:defRPr>
            </a:pPr>
            <a:r>
              <a:t>95.99%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Critical Recall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High sensitivity on simulated life-threatening presentations (anaphylaxis, shock).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90495" cy="2148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72768"/>
            <a:ext cx="2316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11D48"/>
                </a:solidFill>
                <a:latin typeface="Segoe UI"/>
              </a:defRPr>
            </a:pPr>
            <a:r>
              <a:t>98.87%</a:t>
            </a:r>
          </a:p>
          <a:p>
            <a:pPr>
              <a:spcBef>
                <a:spcPts val="2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High+Crit Sensitivity</a:t>
            </a:r>
          </a:p>
          <a:p>
            <a:pPr>
              <a:spcBef>
                <a:spcPts val="4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Queue safety coverage: XGBoost catches complex multi-variable interactions.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28655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1027145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Technical Feasibility &amp; Synthetic Validation Stance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Fast Edge Inference: In-browser tree traversal in TypeScript evaluates 71 features in &lt;10ms with zero Python server dependencies.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SMART-on-FHIR Readiness: Standardized JSON schemas map directly to FHIR Observation, Condition, and Encounter resources.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3 Hospital Profiles: Trauma Center, Community Hospital, and Rural ED presets adapt wait thresholds to staffing levels.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  <a:latin typeface="Segoe UI"/>
              </a:defRPr>
            </a:pPr>
            <a:r>
              <a:t>• Mandatory Clinical Disclaimer: All benchmark metrics are computed on synthetic demonstration datasets. Formal retrospective and prospective clinical trials are required before clinical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310896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STRATEGIC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Transforming Emergency Triage into Continuous Safety</a:t>
            </a:r>
          </a:p>
          <a:p>
            <a:pPr>
              <a:spcBef>
                <a:spcPts val="600"/>
              </a:spcBef>
              <a:defRPr sz="1700">
                <a:solidFill>
                  <a:srgbClr val="94A3B8"/>
                </a:solidFill>
                <a:latin typeface="Segoe UI"/>
              </a:defRPr>
            </a:pPr>
            <a:r>
              <a:t>PatientTriage.ai bridges the waiting-room safety gap by pairing deterministic physiological safety rules with advisory machine learning under absolute clinician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035808"/>
            <a:ext cx="29626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🛡️ Safety First</a:t>
            </a:r>
          </a:p>
          <a:p>
            <a:pPr>
              <a:spcBef>
                <a:spcPts val="600"/>
              </a:spcBef>
              <a:defRPr sz="1450">
                <a:solidFill>
                  <a:srgbClr val="94A3B8"/>
                </a:solidFill>
                <a:latin typeface="Segoe UI"/>
              </a:defRPr>
            </a:pPr>
            <a:r>
              <a:t>Deterministic safety floors prevent algorithmic downgrade of red-flag presentations. UNKNOWN ≠ NORMAL ensures missing data is never assumed benign.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2608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3035808"/>
            <a:ext cx="29626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📡 Dynamic Radar™</a:t>
            </a:r>
          </a:p>
          <a:p>
            <a:pPr>
              <a:spcBef>
                <a:spcPts val="600"/>
              </a:spcBef>
              <a:defRPr sz="1450">
                <a:solidFill>
                  <a:srgbClr val="94A3B8"/>
                </a:solidFill>
                <a:latin typeface="Segoe UI"/>
              </a:defRPr>
            </a:pPr>
            <a:r>
              <a:t>Continuous surveillance replaces static snapshots, tracking longitudinal vital trends and alert diffs to prevent waiting-room decompensation.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926080"/>
            <a:ext cx="3291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1" y="3035808"/>
            <a:ext cx="29626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👩‍⚕️ Clinician Authority</a:t>
            </a:r>
          </a:p>
          <a:p>
            <a:pPr>
              <a:spcBef>
                <a:spcPts val="600"/>
              </a:spcBef>
              <a:defRPr sz="1450">
                <a:solidFill>
                  <a:srgbClr val="94A3B8"/>
                </a:solidFill>
                <a:latin typeface="Segoe UI"/>
              </a:defRPr>
            </a:pPr>
            <a:r>
              <a:t>100% human-in-the-loop control with structured override tracking, local SHAP explainability, and immutable audit logging.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66360"/>
            <a:ext cx="1036289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5780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Next Strategic Steps: Multi-Center Retrospective Validation &amp; Pilot Onboarding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Public Repository: https://github.com/sahilsheoran999/patient_triage  •  Live Functional Prototype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