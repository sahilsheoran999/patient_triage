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43F5E"/>
                </a:solidFill>
                <a:latin typeface="Segoe UI"/>
              </a:defRPr>
            </a:pPr>
            <a:r>
              <a:t>COMPETITION BUSINESS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1F5F9"/>
                </a:solidFill>
                <a:latin typeface="Segoe UI"/>
              </a:defRPr>
            </a:pPr>
            <a:r>
              <a:t>PatientTriage.ai</a:t>
            </a:r>
          </a:p>
          <a:p>
            <a:pPr>
              <a:spcBef>
                <a:spcPts val="800"/>
              </a:spcBef>
              <a:defRPr sz="2000">
                <a:solidFill>
                  <a:srgbClr val="E2E8F0"/>
                </a:solidFill>
                <a:latin typeface="Segoe UI"/>
              </a:defRPr>
            </a:pPr>
            <a:r>
              <a:t>Continuous Emergency Department Safety Monitoring &amp; Hybrid Decision Support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Transforming emergency triage from an isolated arrival snapshot into active, longitudinal waiting-room surveillance.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749039"/>
            <a:ext cx="242316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2148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Segoe UI"/>
              </a:defRPr>
            </a:pPr>
            <a:r>
              <a:t>📡 Continuous Radar™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Real-time longitudinal vital tracking &amp; wait-time threshold alerts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3749039"/>
            <a:ext cx="242316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3840480"/>
            <a:ext cx="2148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Segoe UI"/>
              </a:defRPr>
            </a:pPr>
            <a:r>
              <a:t>🛡️ Deterministic Safety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Non-downgradable safety floors for hard physiological red flags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242316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840480"/>
            <a:ext cx="2148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Segoe UI"/>
              </a:defRPr>
            </a:pPr>
            <a:r>
              <a:t>🤖 Advisory XGBoost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71 domain features evaluated in-browser under strict human authority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3749039"/>
            <a:ext cx="242316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3840480"/>
            <a:ext cx="2148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Segoe UI"/>
              </a:defRPr>
            </a:pPr>
            <a:r>
              <a:t>👩‍⚕️ 100% Clinician Authority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Human-in-the-loop governance with mandatory audit reason logging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394960"/>
            <a:ext cx="10362895" cy="77724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4406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D4D4D8"/>
                </a:solidFill>
                <a:latin typeface="Segoe UI"/>
              </a:defRPr>
            </a:pPr>
            <a:r>
              <a:t>PROTOTYPE SIMULATION NOTICE: Clinical decision-support prototype evaluated on synthetic demonstration benchmarks. All recommendations are advisory. Healthcare practitioners retain 100% final clinical authority. CDSCO / CE / FDA SaMD clearance required prior to clinical deployment.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11D48"/>
                </a:solidFill>
                <a:latin typeface="Segoe UI"/>
              </a:defRPr>
            </a:pPr>
            <a:r>
              <a:t>01. EXECUTIVE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Executive Summary &amp; Core Strategic Pillars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PatientTriage.ai  •  Competition Business Proposal  •  Functional Decision-Support Prototype  •  Page 2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The Emergency Department Paradox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Emergency departments worldwide operate under immense pressure: severe overcrowding, acute nursing shortages, and unpredictable surges. Under legacy five-level triage systems (ESI, MTS), patients receive a static, single point-in-time assessment at intake.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  <a:latin typeface="Segoe UI"/>
              </a:defRPr>
            </a:pPr>
            <a:r>
              <a:t>The Critical Safety Gap: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Human physiology is dynamic. During 30-minute to 4+ hour waiting-room delays, initially stable patients silently deteriorate before physician evaluation. PatientTriage.ai solves this by shifting triage from an isolated snapshot to continuous, real-time safety surveillance.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17320"/>
            <a:ext cx="5394960" cy="1078992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508760"/>
            <a:ext cx="5029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📡 1. Continuous Surveillance (Radar™)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Tracks longitudinal vital deltas and wait times in real time to catch silent decompensation.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633472"/>
            <a:ext cx="5394960" cy="107899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724912"/>
            <a:ext cx="5029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🛡️ 2. Deterministic Safety Fusion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Deterministic rules establish non-downgradable CRITICAL safety floors over ML predictions.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849624"/>
            <a:ext cx="5394960" cy="10789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941064"/>
            <a:ext cx="5029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🔍 3. Explainable Point-of-Care ML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In-browser XGBoost with local SHAP feature importances and transparent uncertainty scoring.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5065776"/>
            <a:ext cx="5394960" cy="107899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5157216"/>
            <a:ext cx="5029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👩‍⚕️ 4. 100% Clinician Authority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Human-in-the-loop governance with mandatory override tracking and an immutable audit trail.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11D48"/>
                </a:solidFill>
                <a:latin typeface="Segoe UI"/>
              </a:defRPr>
            </a:pPr>
            <a:r>
              <a:t>02. PROBLEM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Problem Framing: The Waiting-Room Safety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PatientTriage.ai  •  Competition Business Proposal  •  Functional Decision-Support Prototype  •  Page 3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18288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🚨 1. Silent Decompensation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Occult sepsis, evolving stroke, and atypical myocardial infarction progress without overt distress during waiting delays.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0876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🧠 2. Cognitive Saturation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During volume surges, triage nurses managing 40+ waiting patients cannot manually monitor time-to-reassess limits or vital trendlines.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429000" cy="1828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50876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❓ 3. Unsafe Data Imputation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Rushed intake often defaults unrecorded vitals to 'normal', violating the core clinical safety principle that UNKNOWN ≠ NORMAL.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10728655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103628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Waiting-Room Patient Trajectory Analysis (The Reality of ED Risk)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Stable Patient (ESI-4): SpO₂ 98%, HR 74, wrist pain → Vitals remain stable across 45m → Radar maintains `SAFE` queue state.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Deteriorating Patient (ESI-3 → 1): SpO₂ 95%, HR 86, mild cough at intake → At t=40m, SpO₂ drops to 87% (Δ=-8%) → Radar fires immediate `ESCALATE` alert.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Incomplete Data Presentation: Chest tightness, Levine sign, unmeasured BP → Engine flags high uncertainty → Radar enforces `WATCH` protocol.</a:t>
            </a:r>
          </a:p>
          <a:p>
            <a:pPr>
              <a:spcBef>
                <a:spcPts val="800"/>
              </a:spcBef>
              <a:defRPr sz="1000" b="1">
                <a:solidFill>
                  <a:srgbClr val="E11D48"/>
                </a:solidFill>
                <a:latin typeface="Segoe UI"/>
              </a:defRPr>
            </a:pPr>
            <a:r>
              <a:t>Core Safety Equation: Patient Risk(t) = f( Vitals(t), Symptoms(t), Elapsed Wait (t - t0), ΔPhysiology(t) 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11D48"/>
                </a:solidFill>
                <a:latin typeface="Segoe UI"/>
              </a:defRPr>
            </a:pPr>
            <a:r>
              <a:t>03.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Solution Overview: 5-Component Clinical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PatientTriage.ai  •  Competition Business Proposal  •  Functional Decision-Support Prototype  •  Page 4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057400" cy="4754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54480"/>
            <a:ext cx="1828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1. Structured Intake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Rapid, structured entry of vital signs, chief complaints with negation protection, medical history, and clinical physical cues.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417320"/>
            <a:ext cx="2057400" cy="47548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35808" y="1554480"/>
            <a:ext cx="1828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2. Data Quality &amp; Completeness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Enforces UNKNOWN ≠ NORMAL. Missing vitals automatically penalize completeness score and elevate uncertainty.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417320"/>
            <a:ext cx="2057400" cy="47548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0368" y="1554480"/>
            <a:ext cx="1828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3. Deterministic Safety Rules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Non-negotiable hard physiological red flags (SpO₂ &lt; 88%, SBP &lt; 80, Stridor) enforce unbreachable CRITICAL safety floors.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199" y="1417320"/>
            <a:ext cx="2057400" cy="4754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7" y="1554480"/>
            <a:ext cx="1828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4. XGBoost Advisory Model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In-browser 5-class acuity prediction using 71 domain features (shock index, pulse pressure, clinical interactions) + SHAP.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1417320"/>
            <a:ext cx="2057400" cy="4754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19488" y="1554480"/>
            <a:ext cx="1828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5. Hybrid Fusion &amp; Radar™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Fuses deterministic rules + ML advisory. Continuous surveillance detects vital deltas and wait-time limits.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11D48"/>
                </a:solidFill>
                <a:latin typeface="Segoe UI"/>
              </a:defRPr>
            </a:pPr>
            <a:r>
              <a:t>04. DECISION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Why the Hybrid Model: Rules + ML + Clinician Authority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PatientTriage.ai  •  Competition Business Proposal  •  Functional Decision-Support Prototype  •  Page 5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Deterministic Rules Only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High Safety Floor, Low Clinical Nuance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✔ 100% predictable red-flag enforcement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✔ Transparent, verifiable safety floors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✖ Inflexible on atypical presentations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✖ 44.71% synthetic accuracy (misses nuances)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✖ Rigid threshold boundaries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5448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Pure Machine Learning Only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High Sensitivity, Unacceptable Failure Modes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✔ Recognizes complex feature interactions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✔ High sensitivity (98.87% on acute cohort)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✖ Vulnerable to adversarial/missing inputs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✖ Can hallucinate lower acuity on red flags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✖ Unsafe as autonomous decision authority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429000" cy="475488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55448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PatientTriage.ai Hybrid Model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The Optimal Clinical Balance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✔ Deterministic safety rules establish floor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✔ XGBoost advises on complex interactions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✔ ML can UPGRADE for safety, cannot downgrade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✔ 100% Human Clinician final authority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✔ UNKNOWN ≠ NORMAL uncertainty handling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11D48"/>
                </a:solidFill>
                <a:latin typeface="Segoe UI"/>
              </a:defRPr>
            </a:pPr>
            <a:r>
              <a:t>05. STAKEHOLDER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Target Users &amp; 4-Stakeholder Value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PatientTriage.ai  •  Competition Business Proposal  •  Functional Decision-Support Prototype  •  Page 6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57800" cy="22402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27048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👩‍⚕️ Triage &amp; Staff Nurses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Immediate Operational Relief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Eliminates manual wait-time tracking across 40+ waiting patients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Live data completeness gauge prevents omitted vitals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Objective deterioration alerts support nurse intuition during surges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257800" cy="2240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27048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👨‍⚕️ Emergency Physicians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Faster Diagnostic Context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Pre-arrival risk decomposition and SHAP explainability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Longitudinal evidence diff shows exact vital trajectory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1-click override modal with structured clinical reason capture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57800" cy="2240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50208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🏥 ED Medical Directors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Clinical Governance &amp; Quality Control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Real-time queue acuity visibility and surge pressure indicators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100% audit log coverage of overrides and safety floor triggers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Hospital profile presets adapt wait caps to facility 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5257800" cy="2240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950208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💼 Hospital C-Suite &amp; Risk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Financial &amp; Liability Protection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Mitigates waiting-room sentinel events and malpractice exposure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Reduces LWBS (Left Without Being Seen) rate via active triage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Improves ED bed turnover and reduces avoidable ICU transfers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11D48"/>
                </a:solidFill>
                <a:latin typeface="Segoe UI"/>
              </a:defRPr>
            </a:pPr>
            <a:r>
              <a:t>06. WORKFLOW &amp;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Product Experience &amp; Clinical Operations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PatientTriage.ai  •  Competition Business Proposal  •  Functional Decision-Support Prototype  •  Page 7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11D48"/>
                </a:solidFill>
                <a:latin typeface="Segoe UI"/>
              </a:defRPr>
            </a:pPr>
            <a:r>
              <a:t>Step 1: Patient Intake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Structured registration captures vitals, symptoms, cues. UNKNOWN ≠ NORMAL policy enforces uncertainty penalties on omitted fields.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11D48"/>
                </a:solidFill>
                <a:latin typeface="Segoe UI"/>
              </a:defRPr>
            </a:pPr>
            <a:r>
              <a:t>Step 2: Dual Hybrid Scoring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Deterministic engine evaluates hard red flags. XGBoost evaluates 71 features. Safety floor gate guarantees no downgrade.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10712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11D48"/>
                </a:solidFill>
                <a:latin typeface="Segoe UI"/>
              </a:defRPr>
            </a:pPr>
            <a:r>
              <a:t>Step 3: Command Center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Live clinical queue displays risk scores, model probability, uncertainty levels, and wait time timers with fast filtering.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70832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11D48"/>
                </a:solidFill>
                <a:latin typeface="Segoe UI"/>
              </a:defRPr>
            </a:pPr>
            <a:r>
              <a:t>Step 4: Waiting-Room Radar™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Active surveillance tracks longitudinal vital deltas and triggers REASSESS / ESCALATE states on deterioration.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5780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30952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11D48"/>
                </a:solidFill>
                <a:latin typeface="Segoe UI"/>
              </a:defRPr>
            </a:pPr>
            <a:r>
              <a:t>Step 5: Detail &amp; Override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Physician inspects SHAP feature attributions, reviews Evidence Diff, and confirms or overrides priority with logged reason.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11D48"/>
                </a:solidFill>
                <a:latin typeface="Segoe UI"/>
              </a:defRPr>
            </a:pPr>
            <a:r>
              <a:t>07.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Business Value Pillars &amp; Pilot Value Hypotheses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PatientTriage.ai  •  Competition Business Proposal  •  Functional Decision-Support Prototype  •  Page 8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560320" cy="20116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⏱️ Time-to-Intervention</a:t>
            </a:r>
          </a:p>
          <a:p>
            <a:pPr>
              <a:spcBef>
                <a:spcPts val="400"/>
              </a:spcBef>
              <a:defRPr sz="1800" b="1">
                <a:solidFill>
                  <a:srgbClr val="E11D48"/>
                </a:solidFill>
                <a:latin typeface="Segoe UI"/>
              </a:defRPr>
            </a:pPr>
            <a:r>
              <a:t>18–25% Faster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  <a:latin typeface="Segoe UI"/>
              </a:defRPr>
            </a:pPr>
            <a:r>
              <a:t>Accelerates critical bedside escalation for occult sepsis and silent hypoxemia.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560320" cy="2011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5087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⚖️ Malpractice Mitigation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  <a:latin typeface="Segoe UI"/>
              </a:defRPr>
            </a:pPr>
            <a:r>
              <a:t>30–40% Reduction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  <a:latin typeface="Segoe UI"/>
              </a:defRPr>
            </a:pPr>
            <a:r>
              <a:t>Eliminates unmonitored waiting-room sentinel events and builds complete audit trails.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17320"/>
            <a:ext cx="2560320" cy="2011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🛏️ ED Bed Turnover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  <a:latin typeface="Segoe UI"/>
              </a:defRPr>
            </a:pPr>
            <a:r>
              <a:t>12–15% Uplift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  <a:latin typeface="Segoe UI"/>
              </a:defRPr>
            </a:pPr>
            <a:r>
              <a:t>Reduces queue bottlenecks and Left Without Being Seen (LWBS) rates.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417320"/>
            <a:ext cx="2560320" cy="20116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5087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🩺 Nurse Cognitive Load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  <a:latin typeface="Segoe UI"/>
              </a:defRPr>
            </a:pPr>
            <a:r>
              <a:t>20–30% Decrease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  <a:latin typeface="Segoe UI"/>
              </a:defRPr>
            </a:pPr>
            <a:r>
              <a:t>Automates longitudinal trend calculation and wait-cap surveillance.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1880"/>
            <a:ext cx="10728655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03320"/>
            <a:ext cx="103628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Hospital Pilot Value Hypotheses (Measurable Deployment ROI)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Hypothesis 1 (Deterioration Catch Rate): Radar surveillance catches 100% of simulated vital drops (SpO₂ drop ≥3%, HR spike ≥15) before queue threshold expiry.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Hypothesis 2 (LWBS Reduction): Active waiting-room engagement and transparent monitoring status reduce LWBS by 15–20% in high-volume urban EDs.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Hypothesis 3 (Audit Trail Defense): 100% structured override capture protects clinical staff and hospital legal counsel during retrospective case reviews.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Hypothesis 4 (Surge Scalability): System maintains &lt;10ms client inference latency during simulated 3.0× surge volumes with zero server dependency.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11D48"/>
                </a:solidFill>
                <a:latin typeface="Segoe UI"/>
              </a:defRPr>
            </a:pPr>
            <a:r>
              <a:t>08. MARKET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Competitive Differentiation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PatientTriage.ai  •  Competition Business Proposal  •  Functional Decision-Support Prototype  •  Page 9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Feature &amp; Architecture Comparison Across Clinical Triage Solutions</a:t>
            </a:r>
          </a:p>
          <a:p>
            <a:pPr>
              <a:spcBef>
                <a:spcPts val="600"/>
              </a:spcBef>
              <a:defRPr sz="950" b="1">
                <a:solidFill>
                  <a:srgbClr val="E11D48"/>
                </a:solidFill>
                <a:latin typeface="Consolas"/>
              </a:defRPr>
            </a:pPr>
            <a:r>
              <a:t>CAPABILITY               | LEGACY ESI / MTS       | PURE EHR MODULES       | BLACK-BOX AI           | PATIENTTRIAGE.AI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  <a:latin typeface="Consolas"/>
              </a:defRPr>
            </a:pPr>
            <a:r>
              <a:t>Triage Philosophy        | Static Point-in-Time   | Static Point-in-Time   | Static Probability     | Continuous Longitudinal Radar™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  <a:latin typeface="Consolas"/>
              </a:defRPr>
            </a:pPr>
            <a:r>
              <a:t>Deterioration Detection  | Manual Periodic Re-check | Rule Alerts on Charting | Predictive Scoring Only | Real-Time Vital Deltas &amp; Diff Alerts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  <a:latin typeface="Consolas"/>
              </a:defRPr>
            </a:pPr>
            <a:r>
              <a:t>Safety Floor Guarantee   | Subjective Human Floor | Basic Threshold Alerts | None (ML Can Downgrade) | Deterministic Safety Floor (Invariant)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  <a:latin typeface="Consolas"/>
              </a:defRPr>
            </a:pPr>
            <a:r>
              <a:t>Missing Data Handling    | Assumes Normal (Unsafe) | Omits Feature (Biased) | Mean Imputation (Unsafe) | UNKNOWN ≠ NORMAL Uncertainty Gate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  <a:latin typeface="Consolas"/>
              </a:defRPr>
            </a:pPr>
            <a:r>
              <a:t>Local Explainability     | None                   | None                   | Complex Black Box      | Live Point-of-Care SHAP Decomposition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  <a:latin typeface="Consolas"/>
              </a:defRPr>
            </a:pPr>
            <a:r>
              <a:t>Human Control Model      | Nurse Decides Alone    | Nurse Decides Alone    | Unclear Authority      | 100% Clinician Authority + Reason Log</a:t>
            </a:r>
          </a:p>
          <a:p>
            <a:pPr>
              <a:spcBef>
                <a:spcPts val="400"/>
              </a:spcBef>
              <a:defRPr sz="900">
                <a:solidFill>
                  <a:srgbClr val="059669"/>
                </a:solidFill>
                <a:latin typeface="Consolas"/>
              </a:defRPr>
            </a:pPr>
            <a:r>
              <a:t>Deployment Footprint     | Paper / Basic EHR      | Heavy EHR Monolith     | Cloud Server Dependent | In-Browser Edge Execution (No PHI egress)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11D48"/>
                </a:solidFill>
                <a:latin typeface="Segoe UI"/>
              </a:defRPr>
            </a:pPr>
            <a:r>
              <a:t>09. CLINICAL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Responsible AI &amp; Clinical Governance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PatientTriage.ai  •  Competition Business Proposal  •  Functional Decision-Support Prototype  •  Page 10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74720" cy="2240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27048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1. Clinician Final Authority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Human-in-the-loop governance: AI recommendations are strictly advisory and never execute autonomous clinical orders or prescriptions.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2240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27048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2. UNKNOWN ≠ NORMAL Standard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Omitted vitals and absent EHR records increase uncertainty penalties rather than assuming benign baseline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17320"/>
            <a:ext cx="3474720" cy="2240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527048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3. Immutable Audit Trail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Every priority assignment, uncertainty escalation, model recommendation, and clinician override is permanently logged with timestamp and actor 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347472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50208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4. Explainability &amp; SHAP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Point-of-care feature attribution highlights exact mathematical contributors while explicitly disclaiming that correlation does not equal biological causation.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840480"/>
            <a:ext cx="347472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950208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5. Zero PHI Cloud Egress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In-browser decision evaluation executes tree ensembles directly in TypeScript on the local client device without streaming sensitive patient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3840480"/>
            <a:ext cx="347472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3950208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6. SaMD Regulatory Stance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Designed in alignment with CDSCO / US FDA Software as a Medical Device (SaMD) guidance for clinical decision support prototypes.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11D48"/>
                </a:solidFill>
                <a:latin typeface="Segoe UI"/>
              </a:defRPr>
            </a:pPr>
            <a:r>
              <a:t>10. DEPLOYMENT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Phased Deployment Strategy &amp; Validation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PatientTriage.ai  •  Competition Business Proposal  •  Functional Decision-Support Prototype  •  Page 11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4754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Phase 1: Shadow Evaluation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Months 1–3  •  Offline Retrospective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Ingest historical de-identified ED cohorts (10,000+ records)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Evaluate concordancy against attending physician notes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Validate safety floor: zero false-negative red-flag downgrades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Validation Gate: &gt;95% Critical sensitivity on retrospective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47548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5448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Phase 2: Silent Observer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Months 4–6  •  Live Shadow Pipeline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Parallel silent execution alongside triage nurse without UI display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Track Waiting-Room Radar vital delta capture rates in real time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Monitor false-positive alert burden and adjust threshold dampeners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Validation Gate: Alert fatigue rate &lt;5% per clinical shift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429000" cy="4754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55448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Phase 3: Advisory Pilot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Months 7–12  •  Live CDS Pilot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Active deployment as advisory decision support in single ED site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Clinicians retain 100% authority with mandatory override logging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Measure time-to-reassess reduction and clinician override rate (10–15%)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Validation Gate: Multi-center IRB approval &amp; IRB clinical signoff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11D48"/>
                </a:solidFill>
                <a:latin typeface="Segoe UI"/>
              </a:defRPr>
            </a:pPr>
            <a:r>
              <a:t>11. 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Product Roadmap: From Prototype to Enterprise Triage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PatientTriage.ai  •  Competition Business Proposal  •  Functional Decision-Support Prototype  •  Page 12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10789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62895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  <a:latin typeface="Segoe UI"/>
              </a:defRPr>
            </a:pPr>
            <a:r>
              <a:t>Phase 1: Prototype Foundation (COMPLETED)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Hybrid decision engine, 71 domain features, in-browser XGBoost inference, UNKNOWN ≠ NORMAL data completeness scoring, deterministic safety floors.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33472"/>
            <a:ext cx="10728655" cy="10789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24912"/>
            <a:ext cx="10362895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  <a:latin typeface="Segoe UI"/>
              </a:defRPr>
            </a:pPr>
            <a:r>
              <a:t>Phase 2: Continuous Radar &amp; Alerting (COMPLETED)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Longitudinal vital tracking, Evidence Diff component, Why Now? alert cards, surge mode simulation, 11 preconfigured demo clinical scenarios.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9624"/>
            <a:ext cx="10728655" cy="10789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41064"/>
            <a:ext cx="10362895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Phase 3: EHR Interoperability (Q1–Q2)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Bi-directional HL7 FHIR v4.0 integration, Epic/Cerner SMART-on-FHIR app launch, automated vitals polling from waiting-room kiosks and bedside monitors.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65776"/>
            <a:ext cx="10728655" cy="10789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57216"/>
            <a:ext cx="10362895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Phase 4: Multi-Center Enterprise Scaling (Q3–Q4)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Multi-hospital cluster management, federated model calibration without centralized PHI aggregation, CDSCO/FDA SaMD submission dossier preparation.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11D48"/>
                </a:solidFill>
                <a:latin typeface="Segoe UI"/>
              </a:defRPr>
            </a:pPr>
            <a:r>
              <a:t>12. RISK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Comprehensive Risk &amp; Mitigation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PatientTriage.ai  •  Competition Business Proposal  •  Functional Decision-Support Prototype  •  Page 13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57800" cy="22402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27048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1. Clinical Over-Reliance (Automation Bias)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Risk: Clinicians might passively accept AI recommendations without independent verification.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Mitigation: Mandatory reason capture on overrides; UI prominently displays 'Advisory Decision Support'; deterministic red-flag overrides enforce human sign-off.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257800" cy="2240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27048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2. Alert Fatigue from Radar Alerts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Risk: Excessive reassessment alerts during crowded shifts could cause nurses to ignore notifications.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Mitigation: Configurable threshold dampeners; delta magnitude thresholds (SpO₂ drop ≥3%, HR ≥15); priority grouping in Waiting-Room Radar.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57800" cy="2240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50208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3. Missing Data &amp; Unrepresented Patients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Risk: Patients with zero medical history or unmeasured vitals could receive inappropriate triage ratings.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Mitigation: UNKNOWN ≠ NORMAL standard: omitted fields elevate model uncertainty and block acuity downgrades.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5257800" cy="2240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950208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4. EHR Integration &amp; Network Downtime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Risk: Hospital network failures could interrupt cloud-dependent clinical decision tools.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Mitigation: In-browser edge inference engine runs 100% locally with zero external API dependencies during active patient care.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11D48"/>
                </a:solidFill>
                <a:latin typeface="Segoe UI"/>
              </a:defRPr>
            </a:pPr>
            <a:r>
              <a:t>13. COMMERCIAL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Commercialization Model &amp; Hospital ROI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PatientTriage.ai  •  Competition Business Proposal  •  Functional Decision-Support Prototype  •  Page 14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Tier 1: Community Hospital ED</a:t>
            </a:r>
          </a:p>
          <a:p>
            <a:pPr>
              <a:spcBef>
                <a:spcPts val="200"/>
              </a:spcBef>
              <a:defRPr sz="1300" b="1">
                <a:solidFill>
                  <a:srgbClr val="E11D48"/>
                </a:solidFill>
                <a:latin typeface="Segoe UI"/>
              </a:defRPr>
            </a:pPr>
            <a:r>
              <a:t>$2,500 – $4,000 / month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Up to 30,000 annual visits. Core decision support, Waiting-Room Radar, standard EHR connector, audit 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12064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Tier 2: Regional Trauma Center</a:t>
            </a:r>
          </a:p>
          <a:p>
            <a:pPr>
              <a:spcBef>
                <a:spcPts val="200"/>
              </a:spcBef>
              <a:defRPr sz="1300" b="1">
                <a:solidFill>
                  <a:srgbClr val="E11D48"/>
                </a:solidFill>
                <a:latin typeface="Segoe UI"/>
              </a:defRPr>
            </a:pPr>
            <a:r>
              <a:t>$5,000 – $8,500 / month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30,000–80,000 annual visits. Bi-directional FHIR integration, custom hospital profiles, surge management.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512064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7091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Tier 3: Academic Health Network</a:t>
            </a:r>
          </a:p>
          <a:p>
            <a:pPr>
              <a:spcBef>
                <a:spcPts val="200"/>
              </a:spcBef>
              <a:defRPr sz="1300" b="1">
                <a:solidFill>
                  <a:srgbClr val="E11D48"/>
                </a:solidFill>
                <a:latin typeface="Segoe UI"/>
              </a:defRPr>
            </a:pPr>
            <a:r>
              <a:t>Enterprise Contract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Multi-hospital network, enterprise analytics, federated model calibration, dedicated CDS compliance manager.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417320"/>
            <a:ext cx="5394960" cy="4754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5448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Representative Hospital ROI (50,000 Annual Visits)</a:t>
            </a:r>
          </a:p>
          <a:p>
            <a:pPr>
              <a:spcBef>
                <a:spcPts val="600"/>
              </a:spcBef>
              <a:defRPr sz="950" b="0">
                <a:solidFill>
                  <a:srgbClr val="0F172A"/>
                </a:solidFill>
                <a:latin typeface="Segoe UI"/>
              </a:defRPr>
            </a:pPr>
            <a:r>
              <a:t>1. LWBS Revenue Recovery: Reducing Left Without Being Seen rate by 1.2% recovers ~600 patients/year ($180,000+ net outpatient revenue).</a:t>
            </a:r>
          </a:p>
          <a:p>
            <a:pPr>
              <a:spcBef>
                <a:spcPts val="600"/>
              </a:spcBef>
              <a:defRPr sz="950" b="0">
                <a:solidFill>
                  <a:srgbClr val="0F172A"/>
                </a:solidFill>
                <a:latin typeface="Segoe UI"/>
              </a:defRPr>
            </a:pPr>
            <a:r>
              <a:t>2. Avoidable ICU Transfer Savings: Early detection of occult sepsis in waiting room prevents 12–18 unplanned ICU escalations ($240,000+ cost avoidance).</a:t>
            </a:r>
          </a:p>
          <a:p>
            <a:pPr>
              <a:spcBef>
                <a:spcPts val="600"/>
              </a:spcBef>
              <a:defRPr sz="950" b="0">
                <a:solidFill>
                  <a:srgbClr val="0F172A"/>
                </a:solidFill>
                <a:latin typeface="Segoe UI"/>
              </a:defRPr>
            </a:pPr>
            <a:r>
              <a:t>3. Malpractice Risk Premium Discount: Demonstrated audit trail compliance and zero waiting-room sentinel events lower liability reserves ($75,000/year).</a:t>
            </a:r>
          </a:p>
          <a:p>
            <a:pPr>
              <a:spcBef>
                <a:spcPts val="600"/>
              </a:spcBef>
              <a:defRPr sz="950" b="0">
                <a:solidFill>
                  <a:srgbClr val="0F172A"/>
                </a:solidFill>
                <a:latin typeface="Segoe UI"/>
              </a:defRPr>
            </a:pPr>
            <a:r>
              <a:t>4. Nurse Retention &amp; Overtime: Reducing cognitive burnout and manual re-triaging saves 350+ nursing overtime hours/year ($35,000).</a:t>
            </a:r>
          </a:p>
          <a:p>
            <a:pPr>
              <a:spcBef>
                <a:spcPts val="600"/>
              </a:spcBef>
              <a:defRPr sz="950" b="1">
                <a:solidFill>
                  <a:srgbClr val="E11D48"/>
                </a:solidFill>
                <a:latin typeface="Segoe UI"/>
              </a:defRPr>
            </a:pPr>
            <a:r>
              <a:t>TOTAL ESTIMATED VALUE: $530,000 / year (vs ~$72,000 annual software fee  ➜  7.3× First-Year ROI)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11D48"/>
                </a:solidFill>
                <a:latin typeface="Segoe UI"/>
              </a:defRPr>
            </a:pPr>
            <a:r>
              <a:t>14. PROTOTYPE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Prototype Evidence: Synthetic Benchmarks &amp; Feasibility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PatientTriage.ai  •  Competition Business Proposal  •  Functional Decision-Support Prototype  •  Page 15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5603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Overall Accuracy</a:t>
            </a:r>
          </a:p>
          <a:p>
            <a:pPr>
              <a:spcBef>
                <a:spcPts val="400"/>
              </a:spcBef>
              <a:defRPr sz="2000" b="1">
                <a:solidFill>
                  <a:srgbClr val="2563EB"/>
                </a:solidFill>
                <a:latin typeface="Segoe UI"/>
              </a:defRPr>
            </a:pPr>
            <a:r>
              <a:t>90.79%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5-class acuity classification on 2,250 holdout records (vs 44.71% rule baseline).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5603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5087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Macro F1-Score</a:t>
            </a:r>
          </a:p>
          <a:p>
            <a:pPr>
              <a:spcBef>
                <a:spcPts val="400"/>
              </a:spcBef>
              <a:defRPr sz="2000" b="1">
                <a:solidFill>
                  <a:srgbClr val="2563EB"/>
                </a:solidFill>
                <a:latin typeface="Segoe UI"/>
              </a:defRPr>
            </a:pPr>
            <a:r>
              <a:t>88.20%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Balanced precision/recall across all five triage acuity tiers.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17320"/>
            <a:ext cx="2560320" cy="20116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Critical Recall</a:t>
            </a:r>
          </a:p>
          <a:p>
            <a:pPr>
              <a:spcBef>
                <a:spcPts val="400"/>
              </a:spcBef>
              <a:defRPr sz="2000" b="1">
                <a:solidFill>
                  <a:srgbClr val="E11D48"/>
                </a:solidFill>
                <a:latin typeface="Segoe UI"/>
              </a:defRPr>
            </a:pPr>
            <a:r>
              <a:t>95.99%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High sensitivity on life-threatening emergency presentations.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417320"/>
            <a:ext cx="2560320" cy="2011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5087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High+Crit Sensitivity</a:t>
            </a:r>
          </a:p>
          <a:p>
            <a:pPr>
              <a:spcBef>
                <a:spcPts val="400"/>
              </a:spcBef>
              <a:defRPr sz="2000" b="1">
                <a:solidFill>
                  <a:srgbClr val="E11D48"/>
                </a:solidFill>
                <a:latin typeface="Segoe UI"/>
              </a:defRPr>
            </a:pPr>
            <a:r>
              <a:t>98.87%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Acute queue safety coverage (advisory model catches complex interactions).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1880"/>
            <a:ext cx="10728655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03320"/>
            <a:ext cx="103628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Hospital System Integration Feasibility &amp; Synthetic Validation Disclaimer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Fast Edge Inference: In-browser tree traversal in TypeScript evaluates 71 features in &lt;10ms with zero Python server dependencies.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SMART-on-FHIR Readiness: Standardized JSON schemas map directly to FHIR `Observation`, `Condition`, and `Encounter` resources.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3 Hospital Profiles: Urban Trauma Center, Community Hospital, and Rural ED presets adapt wait thresholds to staffing levels.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Mandatory Clinical Disclaimer: All benchmark metrics are computed on synthetic demonstration datasets. Formal retrospective and prospective clinical trials are required before clinical deployment.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43F5E"/>
                </a:solidFill>
                <a:latin typeface="Segoe UI"/>
              </a:defRPr>
            </a:pPr>
            <a:r>
              <a:t>STRATEGIC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t>Transforming Emergency Triage into Continuous Safety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PatientTriage.ai bridges the waiting-room safety gap by pairing deterministic physiological safety rules with advisory machine learning under absolute clinician authority.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834640"/>
            <a:ext cx="329184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26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Segoe UI"/>
              </a:defRPr>
            </a:pPr>
            <a:r>
              <a:t>🛡️ Safety First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Deterministic safety floors prevent algorithmic downgrade of red-flag presentations. UNKNOWN ≠ NORMAL ensures missing data is never assumed benign.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834640"/>
            <a:ext cx="329184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926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Segoe UI"/>
              </a:defRPr>
            </a:pPr>
            <a:r>
              <a:t>📡 Dynamic Radar™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Continuous surveillance replaces static snapshots, tracking longitudinal vital trends and alert diffs to prevent waiting-room decompensation.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834640"/>
            <a:ext cx="329184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39" y="2926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Segoe UI"/>
              </a:defRPr>
            </a:pPr>
            <a:r>
              <a:t>👩‍⚕️ Clinician Authority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100% human-in-the-loop control with structured override tracking, local SHAP explainability, and immutable audit logging.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120640"/>
            <a:ext cx="1036289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193792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Segoe UI"/>
              </a:defRPr>
            </a:pPr>
            <a:r>
              <a:t>Next Strategic Steps: Multi-Center Retrospective Validation &amp; Pilot Deployment</a:t>
            </a:r>
          </a:p>
          <a:p>
            <a:pPr>
              <a:spcBef>
                <a:spcPts val="3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Repository: https://github.com/sahilsheoran999/patient_triage  •  Functional Prototype Live Demo  •  Comprehensive Documentation Included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